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e922938adc4465c" Type="http://schemas.openxmlformats.org/officeDocument/2006/relationships/extended-properties" Target="docProps/app.xml"/><Relationship Id="Rc10f2bb6dad04f2a" Type="http://schemas.openxmlformats.org/officeDocument/2006/relationships/officeDocument" Target="ppt/presentation.xml"/><Relationship Id="Rd899f1656f314d9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ff34d842174c76"/>
  </p:sldMasterIdLst>
  <p:notesMasterIdLst>
    <p:notesMasterId xmlns:r="http://schemas.openxmlformats.org/officeDocument/2006/relationships" r:id="R19d9c62059e34590"/>
  </p:notesMasterIdLst>
  <p:sldIdLst>
    <p:sldId xmlns:r="http://schemas.openxmlformats.org/officeDocument/2006/relationships" id="256" r:id="R6a3f5d71f1a0468e"/>
    <p:sldId xmlns:r="http://schemas.openxmlformats.org/officeDocument/2006/relationships" id="257" r:id="R51f8fab374a84812"/>
    <p:sldId xmlns:r="http://schemas.openxmlformats.org/officeDocument/2006/relationships" id="258" r:id="R7ed25b64743e4df7"/>
    <p:sldId xmlns:r="http://schemas.openxmlformats.org/officeDocument/2006/relationships" id="259" r:id="R94cc519826664097"/>
    <p:sldId xmlns:r="http://schemas.openxmlformats.org/officeDocument/2006/relationships" id="260" r:id="Ra0413fbd84c64724"/>
    <p:sldId xmlns:r="http://schemas.openxmlformats.org/officeDocument/2006/relationships" id="261" r:id="Reb6300a7580941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9d9c62059e34590" Type="http://schemas.openxmlformats.org/officeDocument/2006/relationships/notesMaster" Target="notesMasters/notesMaster1.xml"/><Relationship Id="R1ce3eaa4f0a04c28" Type="http://schemas.openxmlformats.org/officeDocument/2006/relationships/tableStyles" Target="tableStyles.xml"/><Relationship Id="R42ff34d842174c76" Type="http://schemas.openxmlformats.org/officeDocument/2006/relationships/slideMaster" Target="slideMasters/slideMaster1.xml"/><Relationship Id="R51f8fab374a84812" Type="http://schemas.openxmlformats.org/officeDocument/2006/relationships/slide" Target="slides/slide2.xml"/><Relationship Id="R6a3f5d71f1a0468e" Type="http://schemas.openxmlformats.org/officeDocument/2006/relationships/slide" Target="slides/slide1.xml"/><Relationship Id="R78ebe4f511144e4d" Type="http://schemas.openxmlformats.org/officeDocument/2006/relationships/presProps" Target="presProps.xml"/><Relationship Id="R7ed25b64743e4df7" Type="http://schemas.openxmlformats.org/officeDocument/2006/relationships/slide" Target="slides/slide3.xml"/><Relationship Id="R94cc519826664097" Type="http://schemas.openxmlformats.org/officeDocument/2006/relationships/slide" Target="slides/slide4.xml"/><Relationship Id="Ra0413fbd84c64724" Type="http://schemas.openxmlformats.org/officeDocument/2006/relationships/slide" Target="slides/slide5.xml"/><Relationship Id="Rb761cee9cf7a473c" Type="http://schemas.openxmlformats.org/officeDocument/2006/relationships/theme" Target="theme/theme1.xml"/><Relationship Id="Reb6300a758094179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abc5b7c9cd634cc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e1e756cf373e49a3" Type="http://schemas.openxmlformats.org/officeDocument/2006/relationships/slide" Target="../slides/slide1.xml"/><Relationship Id="Ree786f9fa7994a7b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f5d8404230644311" Type="http://schemas.openxmlformats.org/officeDocument/2006/relationships/notesMaster" Target="../notesMasters/notesMaster1.xml"/><Relationship Id="Rfd53411e424442c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e1e051facc343a2" Type="http://schemas.openxmlformats.org/officeDocument/2006/relationships/notesMaster" Target="../notesMasters/notesMaster1.xml"/><Relationship Id="R2f92e19d47b94ee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61540a3adaf469b" Type="http://schemas.openxmlformats.org/officeDocument/2006/relationships/slide" Target="../slides/slide4.xml"/><Relationship Id="R7f4bce273e7d49d4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03169323c82412e" Type="http://schemas.openxmlformats.org/officeDocument/2006/relationships/slide" Target="../slides/slide5.xml"/><Relationship Id="Rc76d0b48521446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b838f603e75e4f8a" Type="http://schemas.openxmlformats.org/officeDocument/2006/relationships/notesMaster" Target="../notesMasters/notesMaster1.xml"/><Relationship Id="Rf913f2e02ec0449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Abram com uma pergunta: como acompanhar várias equipes sem perder tarefas, prazos e o estágio de cada ideia?</a:t>
            </a:r>
          </a:p>
          <a:p xmlns:a="http://schemas.openxmlformats.org/drawingml/2006/main">
            <a:r>
              <a:t>Apresentem o InfoHub como uma jornada visual que leva cada equipe da primeira ideia até o pitch e a inscrição no InovAMF.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interno InfoHub/InovAMF: frontend/index.html, frontend/app.js e frontend/mock-api.js.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Expliquem que hoje o acompanhamento depende de mensagens, planilhas, arquivos e lembranças individuais.</a:t>
            </a:r>
          </a:p>
          <a:p xmlns:a="http://schemas.openxmlformats.org/drawingml/2006/main">
            <a:r>
              <a:t>Quando a informação fica espalhada, os atrasos aparecem tarde e o estágio real de cada equipe fica pouco claro.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interno InfoHub/InovAMF: frontend/index.html, frontend/app.js e frontend/mock-api.js.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Mostrem o valor prático: em uma única tela é possível saber quantas equipes estão ativas, quais tarefas atrasaram e quem está pronto para o InovAMF.</a:t>
            </a:r>
          </a:p>
          <a:p xmlns:a="http://schemas.openxmlformats.org/drawingml/2006/main">
            <a:r>
              <a:t>O quadro por etapas permite filtrar, abrir detalhes e avançar a equipe sem perder o histórico.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interno InfoHub/InovAMF: frontend/index.html, frontend/app.js e frontend/mock-api.js.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Percorram as seis etapas sem explicar demais cada uma: cadastro da ideia, contato, entendimento do problema, proposta de valor, modelo de negócio e pitch.</a:t>
            </a:r>
          </a:p>
          <a:p xmlns:a="http://schemas.openxmlformats.org/drawingml/2006/main">
            <a:r>
              <a:t>O ponto de venda é que o sistema transforma um processo abstrato em uma sequência clara e acompanhável.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interno InfoHub/InovAMF: frontend/index.html, frontend/app.js e frontend/mock-api.js.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Vendam o benefício para cada público: o aluno sabe o que entregar, o mentor acompanha com contexto e a coordenação enxerga o funil completo.</a:t>
            </a:r>
          </a:p>
          <a:p xmlns:a="http://schemas.openxmlformats.org/drawingml/2006/main">
            <a:r>
              <a:t>Isso reduz retrabalho, melhora a comunicação e permite agir antes que uma equipe pare no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interno InfoHub/InovAMF: frontend/index.html, frontend/app.js e frontend/mock-api.js.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Fechem mostrando maturidade: o frontend navegável valida a experiência, e a estrutura do banco e o contrato da API já orientam a integração.</a:t>
            </a:r>
          </a:p>
          <a:p xmlns:a="http://schemas.openxmlformats.org/drawingml/2006/main">
            <a:r>
              <a:t>A proposta é simples: transformar o acompanhamento do InfoHub em uma jornada visível, organizada e preparada para levar mais ideias ao InovAMF.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interno InfoHub/InovAMF: frontend/index.html, frontend/app.js e frontend/mock-api.js.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cfe3885132b4b1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baff2846f094f55" Type="http://schemas.openxmlformats.org/officeDocument/2006/relationships/theme" Target="theme/theme2.xml"/><Relationship Id="R7eced5cd4b45451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ced5cd4b4545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547c96990784273" Type="http://schemas.openxmlformats.org/officeDocument/2006/relationships/notesSlide" Target="../notesSlides/notesSlide1.xml"/><Relationship Id="Re1c23bc219c04ea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3795d08e4eb4115" Type="http://schemas.openxmlformats.org/officeDocument/2006/relationships/notesSlide" Target="../notesSlides/notesSlide2.xml"/><Relationship Id="Rbc5d0108c3d7480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790ac87d84f6407f" Type="http://schemas.openxmlformats.org/officeDocument/2006/relationships/slideLayout" Target="../slideLayouts/slideLayout1.xml"/><Relationship Id="Rf0fa608942284e2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fc547db6ffe4674" Type="http://schemas.openxmlformats.org/officeDocument/2006/relationships/slideLayout" Target="../slideLayouts/slideLayout1.xml"/><Relationship Id="R97feb30c60834bc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d2d5c19e1384298" Type="http://schemas.openxmlformats.org/officeDocument/2006/relationships/slideLayout" Target="../slideLayouts/slideLayout1.xml"/><Relationship Id="R430b8986ad5f4b7c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ca39935f30e45ec" Type="http://schemas.openxmlformats.org/officeDocument/2006/relationships/slideLayout" Target="../slideLayouts/slideLayout1.xml"/><Relationship Id="R658a2e7d99364635" Type="http://schemas.openxmlformats.org/officeDocument/2006/relationships/notesSlide" Target="../notesSlides/notesSlide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D0825E0-A0D2-4269-90AC-1F52E67E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2AEF3517-9E35-4FFA-9BCA-65E4B281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8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89D"/>
                </a:solidFill>
                <a:latin typeface="Arial"/>
                <a:ea typeface="Arial"/>
                <a:cs typeface="Arial"/>
              </a:rPr>
              <a:t>INFOHUB  •  JORNADA EMPREENDEDORA</a:t>
            </a:r>
          </a:p>
        </p:txBody>
      </p:sp>
      <p:sp>
        <p:nvSpPr>
          <p:cNvPr id="3" name="title-main-1">
            <a:extLst xmlns:a="http://schemas.openxmlformats.org/drawingml/2006/main">
              <a:ext uri="{FF2B5EF4-FFF2-40B4-BE49-F238E27FC236}">
                <a16:creationId xmlns:a16="http://schemas.microsoft.com/office/drawing/2014/main" id="{FB9376BC-7A36-49B4-92B1-F6D46ED2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Ideias que avançam.</a:t>
            </a:r>
          </a:p>
        </p:txBody>
      </p:sp>
      <p:sp>
        <p:nvSpPr>
          <p:cNvPr id="4" name="title-main-2">
            <a:extLst xmlns:a="http://schemas.openxmlformats.org/drawingml/2006/main">
              <a:ext uri="{FF2B5EF4-FFF2-40B4-BE49-F238E27FC236}">
                <a16:creationId xmlns:a16="http://schemas.microsoft.com/office/drawing/2014/main" id="{5FA200E0-CCCF-471A-9072-7A0B895D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A89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A89D"/>
                </a:solidFill>
                <a:latin typeface="Arial"/>
                <a:ea typeface="Arial"/>
                <a:cs typeface="Arial"/>
              </a:rPr>
              <a:t>Etapa por etapa.</a:t>
            </a:r>
          </a:p>
        </p:txBody>
      </p:sp>
      <p:sp>
        <p:nvSpPr>
          <p:cNvPr id="5" name="title-sub">
            <a:extLst xmlns:a="http://schemas.openxmlformats.org/drawingml/2006/main">
              <a:ext uri="{FF2B5EF4-FFF2-40B4-BE49-F238E27FC236}">
                <a16:creationId xmlns:a16="http://schemas.microsoft.com/office/drawing/2014/main" id="{92F259D7-EAC1-464F-9ACD-1C00370D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Um painel para acompanhar equipes, tarefas e mentoria até o InovAMF.</a:t>
            </a:r>
          </a:p>
        </p:txBody>
      </p:sp>
      <p:sp>
        <p:nvSpPr>
          <p:cNvPr id="6" name="stage-rail">
            <a:extLst xmlns:a="http://schemas.openxmlformats.org/drawingml/2006/main">
              <a:ext uri="{FF2B5EF4-FFF2-40B4-BE49-F238E27FC236}">
                <a16:creationId xmlns:a16="http://schemas.microsoft.com/office/drawing/2014/main" id="{74411E4F-98BD-4E33-85AA-2D470693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23900"/>
            <a:ext cx="2743200" cy="5410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B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rail-label">
            <a:extLst xmlns:a="http://schemas.openxmlformats.org/drawingml/2006/main">
              <a:ext uri="{FF2B5EF4-FFF2-40B4-BE49-F238E27FC236}">
                <a16:creationId xmlns:a16="http://schemas.microsoft.com/office/drawing/2014/main" id="{64D56935-C140-4C88-9409-63C6472C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28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DF5F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DF5F1"/>
                </a:solidFill>
                <a:latin typeface="Arial"/>
                <a:ea typeface="Arial"/>
                <a:cs typeface="Arial"/>
              </a:rPr>
              <a:t>DA IDEIA AO PITCH</a:t>
            </a:r>
          </a:p>
        </p:txBody>
      </p:sp>
      <p:sp>
        <p:nvSpPr>
          <p:cNvPr id="8" name="rail-node-0">
            <a:extLst xmlns:a="http://schemas.openxmlformats.org/drawingml/2006/main">
              <a:ext uri="{FF2B5EF4-FFF2-40B4-BE49-F238E27FC236}">
                <a16:creationId xmlns:a16="http://schemas.microsoft.com/office/drawing/2014/main" id="{2F3AF174-FCDB-4089-8D1C-5DC9BDAF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ail-num-0">
            <a:extLst xmlns:a="http://schemas.openxmlformats.org/drawingml/2006/main">
              <a:ext uri="{FF2B5EF4-FFF2-40B4-BE49-F238E27FC236}">
                <a16:creationId xmlns:a16="http://schemas.microsoft.com/office/drawing/2014/main" id="{E85D76D1-3584-414D-8D9E-68D3AD0B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ail-label-0">
            <a:extLst xmlns:a="http://schemas.openxmlformats.org/drawingml/2006/main">
              <a:ext uri="{FF2B5EF4-FFF2-40B4-BE49-F238E27FC236}">
                <a16:creationId xmlns:a16="http://schemas.microsoft.com/office/drawing/2014/main" id="{14CF2BB1-DE16-4FBE-A4F9-13CE6FE3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097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Ideia</a:t>
            </a:r>
          </a:p>
        </p:txBody>
      </p:sp>
      <p:sp>
        <p:nvSpPr>
          <p:cNvPr id="11" name="rail-line-0">
            <a:extLst xmlns:a="http://schemas.openxmlformats.org/drawingml/2006/main">
              <a:ext uri="{FF2B5EF4-FFF2-40B4-BE49-F238E27FC236}">
                <a16:creationId xmlns:a16="http://schemas.microsoft.com/office/drawing/2014/main" id="{C7B6A617-A4F9-4B34-A4E0-97CC4115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24050"/>
            <a:ext cx="19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l-node-1">
            <a:extLst xmlns:a="http://schemas.openxmlformats.org/drawingml/2006/main">
              <a:ext uri="{FF2B5EF4-FFF2-40B4-BE49-F238E27FC236}">
                <a16:creationId xmlns:a16="http://schemas.microsoft.com/office/drawing/2014/main" id="{21065233-8BDD-4FB0-B88F-1B811E03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l-num-1">
            <a:extLst xmlns:a="http://schemas.openxmlformats.org/drawingml/2006/main">
              <a:ext uri="{FF2B5EF4-FFF2-40B4-BE49-F238E27FC236}">
                <a16:creationId xmlns:a16="http://schemas.microsoft.com/office/drawing/2014/main" id="{737B5751-D440-44BE-8EF1-993E31AF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95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ail-label-1">
            <a:extLst xmlns:a="http://schemas.openxmlformats.org/drawingml/2006/main">
              <a:ext uri="{FF2B5EF4-FFF2-40B4-BE49-F238E27FC236}">
                <a16:creationId xmlns:a16="http://schemas.microsoft.com/office/drawing/2014/main" id="{490D217A-1F36-49E4-892C-1C1AB150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860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Contato</a:t>
            </a:r>
          </a:p>
        </p:txBody>
      </p:sp>
      <p:sp>
        <p:nvSpPr>
          <p:cNvPr id="15" name="rail-line-1">
            <a:extLst xmlns:a="http://schemas.openxmlformats.org/drawingml/2006/main">
              <a:ext uri="{FF2B5EF4-FFF2-40B4-BE49-F238E27FC236}">
                <a16:creationId xmlns:a16="http://schemas.microsoft.com/office/drawing/2014/main" id="{CAB54A50-960C-4543-BAFD-58F3255B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0325"/>
            <a:ext cx="19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l-node-2">
            <a:extLst xmlns:a="http://schemas.openxmlformats.org/drawingml/2006/main">
              <a:ext uri="{FF2B5EF4-FFF2-40B4-BE49-F238E27FC236}">
                <a16:creationId xmlns:a16="http://schemas.microsoft.com/office/drawing/2014/main" id="{627AC3BC-1EB5-438B-9DD9-202D923D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il-num-2">
            <a:extLst xmlns:a="http://schemas.openxmlformats.org/drawingml/2006/main">
              <a:ext uri="{FF2B5EF4-FFF2-40B4-BE49-F238E27FC236}">
                <a16:creationId xmlns:a16="http://schemas.microsoft.com/office/drawing/2014/main" id="{CEFFC87E-D72D-46C6-8C47-D080FC13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rail-label-2">
            <a:extLst xmlns:a="http://schemas.openxmlformats.org/drawingml/2006/main">
              <a:ext uri="{FF2B5EF4-FFF2-40B4-BE49-F238E27FC236}">
                <a16:creationId xmlns:a16="http://schemas.microsoft.com/office/drawing/2014/main" id="{F7EFA565-715C-4097-8DEB-CDFCDE69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6227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Entender</a:t>
            </a:r>
          </a:p>
        </p:txBody>
      </p:sp>
      <p:sp>
        <p:nvSpPr>
          <p:cNvPr id="19" name="rail-line-2">
            <a:extLst xmlns:a="http://schemas.openxmlformats.org/drawingml/2006/main">
              <a:ext uri="{FF2B5EF4-FFF2-40B4-BE49-F238E27FC236}">
                <a16:creationId xmlns:a16="http://schemas.microsoft.com/office/drawing/2014/main" id="{B41425D8-4885-49F3-94B3-0A20E4CD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19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ail-node-3">
            <a:extLst xmlns:a="http://schemas.openxmlformats.org/drawingml/2006/main">
              <a:ext uri="{FF2B5EF4-FFF2-40B4-BE49-F238E27FC236}">
                <a16:creationId xmlns:a16="http://schemas.microsoft.com/office/drawing/2014/main" id="{2DA9B461-99BE-4945-BC2C-D645A4BD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90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il-num-3">
            <a:extLst xmlns:a="http://schemas.openxmlformats.org/drawingml/2006/main">
              <a:ext uri="{FF2B5EF4-FFF2-40B4-BE49-F238E27FC236}">
                <a16:creationId xmlns:a16="http://schemas.microsoft.com/office/drawing/2014/main" id="{8CD6DFFA-817B-4A4C-9D08-4038206E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48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rail-label-3">
            <a:extLst xmlns:a="http://schemas.openxmlformats.org/drawingml/2006/main">
              <a:ext uri="{FF2B5EF4-FFF2-40B4-BE49-F238E27FC236}">
                <a16:creationId xmlns:a16="http://schemas.microsoft.com/office/drawing/2014/main" id="{7A787FDE-DF95-409C-8559-DA2B65CA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385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Valor</a:t>
            </a:r>
          </a:p>
        </p:txBody>
      </p:sp>
      <p:sp>
        <p:nvSpPr>
          <p:cNvPr id="23" name="rail-line-3">
            <a:extLst xmlns:a="http://schemas.openxmlformats.org/drawingml/2006/main">
              <a:ext uri="{FF2B5EF4-FFF2-40B4-BE49-F238E27FC236}">
                <a16:creationId xmlns:a16="http://schemas.microsoft.com/office/drawing/2014/main" id="{1544AF91-DEA9-4E64-A6B7-177D8195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52875"/>
            <a:ext cx="19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ail-node-4">
            <a:extLst xmlns:a="http://schemas.openxmlformats.org/drawingml/2006/main">
              <a:ext uri="{FF2B5EF4-FFF2-40B4-BE49-F238E27FC236}">
                <a16:creationId xmlns:a16="http://schemas.microsoft.com/office/drawing/2014/main" id="{269D703A-A519-452D-92A7-1489DF79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ail-num-4">
            <a:extLst xmlns:a="http://schemas.openxmlformats.org/drawingml/2006/main">
              <a:ext uri="{FF2B5EF4-FFF2-40B4-BE49-F238E27FC236}">
                <a16:creationId xmlns:a16="http://schemas.microsoft.com/office/drawing/2014/main" id="{CBAB6DEB-EB02-42F3-A624-728B66A4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rail-label-4">
            <a:extLst xmlns:a="http://schemas.openxmlformats.org/drawingml/2006/main">
              <a:ext uri="{FF2B5EF4-FFF2-40B4-BE49-F238E27FC236}">
                <a16:creationId xmlns:a16="http://schemas.microsoft.com/office/drawing/2014/main" id="{9F1EB13B-7B9A-4809-9CB9-4AFCF9F8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148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</a:t>
            </a:r>
          </a:p>
        </p:txBody>
      </p:sp>
      <p:sp>
        <p:nvSpPr>
          <p:cNvPr id="27" name="rail-line-4">
            <a:extLst xmlns:a="http://schemas.openxmlformats.org/drawingml/2006/main">
              <a:ext uri="{FF2B5EF4-FFF2-40B4-BE49-F238E27FC236}">
                <a16:creationId xmlns:a16="http://schemas.microsoft.com/office/drawing/2014/main" id="{27C7D49A-0126-4476-B7F9-1E9D1700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29150"/>
            <a:ext cx="19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ail-node-5">
            <a:extLst xmlns:a="http://schemas.openxmlformats.org/drawingml/2006/main">
              <a:ext uri="{FF2B5EF4-FFF2-40B4-BE49-F238E27FC236}">
                <a16:creationId xmlns:a16="http://schemas.microsoft.com/office/drawing/2014/main" id="{B5938C85-C908-43A7-A83C-F1FBAA2D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434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ail-num-5">
            <a:extLst xmlns:a="http://schemas.openxmlformats.org/drawingml/2006/main">
              <a:ext uri="{FF2B5EF4-FFF2-40B4-BE49-F238E27FC236}">
                <a16:creationId xmlns:a16="http://schemas.microsoft.com/office/drawing/2014/main" id="{AC0FDF27-CFE5-4741-9608-B0D94590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006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rail-label-5">
            <a:extLst xmlns:a="http://schemas.openxmlformats.org/drawingml/2006/main">
              <a:ext uri="{FF2B5EF4-FFF2-40B4-BE49-F238E27FC236}">
                <a16:creationId xmlns:a16="http://schemas.microsoft.com/office/drawing/2014/main" id="{EA3934BC-3EDA-48EE-A2D7-2BBAD4CA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911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Pitch</a:t>
            </a:r>
          </a:p>
        </p:txBody>
      </p:sp>
      <p:sp>
        <p:nvSpPr>
          <p:cNvPr id="31" name="title-footer">
            <a:extLst xmlns:a="http://schemas.openxmlformats.org/drawingml/2006/main">
              <a:ext uri="{FF2B5EF4-FFF2-40B4-BE49-F238E27FC236}">
                <a16:creationId xmlns:a16="http://schemas.microsoft.com/office/drawing/2014/main" id="{ADAFD9EE-8C19-4C04-8963-B3F2B87D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817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Protótipo de frontend</a:t>
            </a:r>
          </a:p>
        </p:txBody>
      </p:sp>
    </p:spTree>
    <p:extLst>
      <p:ext uri="{BB962C8B-B14F-4D97-AF65-F5344CB8AC3E}">
        <p14:creationId xmlns:p14="http://schemas.microsoft.com/office/powerpoint/2010/main" val="9116581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title-2">
            <a:extLst xmlns:a="http://schemas.openxmlformats.org/drawingml/2006/main">
              <a:ext uri="{FF2B5EF4-FFF2-40B4-BE49-F238E27FC236}">
                <a16:creationId xmlns:a16="http://schemas.microsoft.com/office/drawing/2014/main" id="{C1991578-2223-44E8-ADCE-7B7C5359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O acompanhamento se perde entre mensagens e arquivos.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9ECDD028-D54B-42B7-8880-00000868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F8BDE89B-D2A3-4694-99DC-2D9BE357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O problema não é falta de esforço. É falta de uma visão comum do processo.</a:t>
            </a:r>
          </a:p>
        </p:txBody>
      </p:sp>
      <p:sp>
        <p:nvSpPr>
          <p:cNvPr id="4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66ECF2C3-D5F5-45DD-A90F-9475176D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6D5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26D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AA30B2F5-EB96-4191-A021-CC2DEBA4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Informação espalhada</a:t>
            </a:r>
          </a:p>
        </p:txBody>
      </p:sp>
      <p:sp>
        <p:nvSpPr>
          <p:cNvPr id="6" name="problem-desc-0">
            <a:extLst xmlns:a="http://schemas.openxmlformats.org/drawingml/2006/main">
              <a:ext uri="{FF2B5EF4-FFF2-40B4-BE49-F238E27FC236}">
                <a16:creationId xmlns:a16="http://schemas.microsoft.com/office/drawing/2014/main" id="{1AAA1F83-1190-4447-82D0-E3AF4E1C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314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Ideias, documentos e decisões ficam em canais diferentes.</a:t>
            </a:r>
          </a:p>
        </p:txBody>
      </p:sp>
      <p:sp>
        <p:nvSpPr>
          <p:cNvPr id="7" name="problem-rule-1">
            <a:extLst xmlns:a="http://schemas.openxmlformats.org/drawingml/2006/main">
              <a:ext uri="{FF2B5EF4-FFF2-40B4-BE49-F238E27FC236}">
                <a16:creationId xmlns:a16="http://schemas.microsoft.com/office/drawing/2014/main" id="{EEF65296-D4E6-4160-A63D-8CA24C05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238375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F9F4A90A-86E2-4E92-ADE5-50FE10AE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669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79A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79A1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7233810D-FB2A-4EBC-86DD-B67B3782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432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Prazos pouco visíveis</a:t>
            </a:r>
          </a:p>
        </p:txBody>
      </p:sp>
      <p:sp>
        <p:nvSpPr>
          <p:cNvPr id="10" name="problem-desc-1">
            <a:extLst xmlns:a="http://schemas.openxmlformats.org/drawingml/2006/main">
              <a:ext uri="{FF2B5EF4-FFF2-40B4-BE49-F238E27FC236}">
                <a16:creationId xmlns:a16="http://schemas.microsoft.com/office/drawing/2014/main" id="{F64E48E3-2427-4C96-8A8B-0F686ACB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962400"/>
            <a:ext cx="314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Tarefas atrasadas aparecem tarde demais para correção.</a:t>
            </a:r>
          </a:p>
        </p:txBody>
      </p:sp>
      <p:sp>
        <p:nvSpPr>
          <p:cNvPr id="11" name="problem-rule-2">
            <a:extLst xmlns:a="http://schemas.openxmlformats.org/drawingml/2006/main">
              <a:ext uri="{FF2B5EF4-FFF2-40B4-BE49-F238E27FC236}">
                <a16:creationId xmlns:a16="http://schemas.microsoft.com/office/drawing/2014/main" id="{D1EA966D-FAFB-447D-BE0C-2755F8B4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38375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2DCF0898-ACDB-477B-89EA-95F3039D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F52D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F52D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D50FEA20-1451-4881-B0C1-B98ADA6A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Avanço difícil de medir</a:t>
            </a:r>
          </a:p>
        </p:txBody>
      </p:sp>
      <p:sp>
        <p:nvSpPr>
          <p:cNvPr id="14" name="problem-desc-2">
            <a:extLst xmlns:a="http://schemas.openxmlformats.org/drawingml/2006/main">
              <a:ext uri="{FF2B5EF4-FFF2-40B4-BE49-F238E27FC236}">
                <a16:creationId xmlns:a16="http://schemas.microsoft.com/office/drawing/2014/main" id="{5AE7E2E6-D9FA-4A01-8EAE-9949641C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62400"/>
            <a:ext cx="314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Mentores e coordenação não enxergam o funil completo.</a:t>
            </a:r>
          </a:p>
        </p:txBody>
      </p:sp>
      <p:sp>
        <p:nvSpPr>
          <p:cNvPr id="15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53352DC-C120-4844-A161-41AF6C48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C274AF01-54D3-4F1E-950B-FF873E81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7A"/>
                </a:solidFill>
                <a:latin typeface="Arial"/>
                <a:ea typeface="Arial"/>
                <a:cs typeface="Arial"/>
              </a:rPr>
              <a:t>InfoHub  →  InovAMF</a:t>
            </a:r>
          </a:p>
        </p:txBody>
      </p:sp>
    </p:spTree>
    <p:extLst>
      <p:ext uri="{BB962C8B-B14F-4D97-AF65-F5344CB8AC3E}">
        <p14:creationId xmlns:p14="http://schemas.microsoft.com/office/powerpoint/2010/main" val="712566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header-title-3">
            <a:extLst xmlns:a="http://schemas.openxmlformats.org/drawingml/2006/main">
              <a:ext uri="{FF2B5EF4-FFF2-40B4-BE49-F238E27FC236}">
                <a16:creationId xmlns:a16="http://schemas.microsoft.com/office/drawing/2014/main" id="{52DABA48-7853-4489-BA6B-436C91F1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Uma visão única mostra o que precisa acontecer agora.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9E58FD3B-71C2-4D79-9BD5-9ED8B500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dashboard-copy">
            <a:extLst xmlns:a="http://schemas.openxmlformats.org/drawingml/2006/main">
              <a:ext uri="{FF2B5EF4-FFF2-40B4-BE49-F238E27FC236}">
                <a16:creationId xmlns:a16="http://schemas.microsoft.com/office/drawing/2014/main" id="{D22335EF-6952-4471-A8C6-9F7E951B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47775"/>
            <a:ext cx="3676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737A"/>
                </a:solidFill>
                <a:latin typeface="Arial"/>
              </a:rPr>
              <a:t>A solução organiza equipes, etapas, mentores e tarefas em um único fluxo de acompanhamento.</a:t>
            </a:r>
          </a:p>
        </p:txBody>
      </p:sp>
      <p:sp>
        <p:nvSpPr>
          <p:cNvPr id="4" name="dashboard-bullet-1">
            <a:extLst xmlns:a="http://schemas.openxmlformats.org/drawingml/2006/main">
              <a:ext uri="{FF2B5EF4-FFF2-40B4-BE49-F238E27FC236}">
                <a16:creationId xmlns:a16="http://schemas.microsoft.com/office/drawing/2014/main" id="{0435A39C-3D7D-4DA5-B008-D599ADBA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• Filtrar por área e mentor</a:t>
            </a:r>
          </a:p>
        </p:txBody>
      </p:sp>
      <p:sp>
        <p:nvSpPr>
          <p:cNvPr id="5" name="dashboard-bullet-2">
            <a:extLst xmlns:a="http://schemas.openxmlformats.org/drawingml/2006/main">
              <a:ext uri="{FF2B5EF4-FFF2-40B4-BE49-F238E27FC236}">
                <a16:creationId xmlns:a16="http://schemas.microsoft.com/office/drawing/2014/main" id="{437F3739-C24C-4F23-A9AE-1191326B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• Identificar atrasos</a:t>
            </a:r>
          </a:p>
        </p:txBody>
      </p:sp>
      <p:sp>
        <p:nvSpPr>
          <p:cNvPr id="6" name="dashboard-bullet-3">
            <a:extLst xmlns:a="http://schemas.openxmlformats.org/drawingml/2006/main">
              <a:ext uri="{FF2B5EF4-FFF2-40B4-BE49-F238E27FC236}">
                <a16:creationId xmlns:a16="http://schemas.microsoft.com/office/drawing/2014/main" id="{30BAC567-46E6-4045-B7A2-649255F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B2B3A"/>
                </a:solidFill>
                <a:latin typeface="Arial"/>
              </a:rPr>
              <a:t>• Mostrar o próximo passo</a:t>
            </a:r>
          </a:p>
        </p:txBody>
      </p:sp>
      <p:sp>
        <p:nvSpPr>
          <p:cNvPr id="7" name="dashboard-bullet-4">
            <a:extLst xmlns:a="http://schemas.openxmlformats.org/drawingml/2006/main">
              <a:ext uri="{FF2B5EF4-FFF2-40B4-BE49-F238E27FC236}">
                <a16:creationId xmlns:a16="http://schemas.microsoft.com/office/drawing/2014/main" id="{18497B84-8516-4C69-9FE6-2054A846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• Avançar a jornada</a:t>
            </a:r>
          </a:p>
        </p:txBody>
      </p:sp>
      <p:sp>
        <p:nvSpPr>
          <p:cNvPr id="8" name="dashboard-accent">
            <a:extLst xmlns:a="http://schemas.openxmlformats.org/drawingml/2006/main">
              <a:ext uri="{FF2B5EF4-FFF2-40B4-BE49-F238E27FC236}">
                <a16:creationId xmlns:a16="http://schemas.microsoft.com/office/drawing/2014/main" id="{CB6BB637-C530-4AF3-A37E-4D21C055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304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shboard-accent-text">
            <a:extLst xmlns:a="http://schemas.openxmlformats.org/drawingml/2006/main">
              <a:ext uri="{FF2B5EF4-FFF2-40B4-BE49-F238E27FC236}">
                <a16:creationId xmlns:a16="http://schemas.microsoft.com/office/drawing/2014/main" id="{D966409F-3826-4037-B237-1EAF0E5D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01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Clareza para agir antes que o prazo vire problema.</a:t>
            </a:r>
          </a:p>
        </p:txBody>
      </p:sp>
      <p:sp>
        <p:nvSpPr>
          <p:cNvPr id="70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3CC432D7-FC87-4A3C-B32B-2314BC81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FB4EDF0F-4E93-41E4-9182-3FA34CE3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7A"/>
                </a:solidFill>
                <a:latin typeface="Arial"/>
                <a:ea typeface="Arial"/>
                <a:cs typeface="Arial"/>
              </a:rPr>
              <a:t>InfoHub  →  InovAMF</a:t>
            </a:r>
          </a:p>
        </p:txBody>
      </p:sp>
      <p:sp xmlns:a="http://schemas.openxmlformats.org/drawingml/2006/main">
        <p:nvSpPr>
          <p:cNvPr id="73" name="concept-frame"/>
          <p:cNvSpPr/>
          <p:nvPr/>
        </p:nvSpPr>
        <p:spPr>
          <a:xfrm>
            <a:off x="4270248" y="1261872"/>
            <a:ext cx="7470648" cy="4517136"/>
          </a:xfrm>
          <a:prstGeom prst="roundRect">
            <a:avLst/>
          </a:prstGeom>
          <a:solidFill>
            <a:srgbClr val="EDF2F1"/>
          </a:solidFill>
          <a:ln w="9525">
            <a:solidFill>
              <a:srgbClr val="B7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4" name="TextBox 73"/>
          <p:cNvSpPr txBox="1"/>
          <p:nvPr/>
        </p:nvSpPr>
        <p:spPr>
          <a:xfrm>
            <a:off x="4617720" y="1517904"/>
            <a:ext cx="530352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B2B3A"/>
                </a:solidFill>
                <a:latin typeface="Arial"/>
              </a:rPr>
              <a:t>Mapa de acompanhamento da jornada</a:t>
            </a:r>
          </a:p>
        </p:txBody>
      </p:sp>
      <p:sp xmlns:a="http://schemas.openxmlformats.org/drawingml/2006/main">
        <p:nvSpPr>
          <p:cNvPr id="75" name="TextBox 74"/>
          <p:cNvSpPr txBox="1"/>
          <p:nvPr/>
        </p:nvSpPr>
        <p:spPr>
          <a:xfrm>
            <a:off x="4617720" y="1837943"/>
            <a:ext cx="6035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F737A"/>
                </a:solidFill>
                <a:latin typeface="Arial"/>
              </a:rPr>
              <a:t>Sem depender de mensagens soltas, cada informação vira decisão.</a:t>
            </a:r>
          </a:p>
        </p:txBody>
      </p:sp>
      <p:cxnSp xmlns:a="http://schemas.openxmlformats.org/drawingml/2006/main">
        <p:nvCxnSpPr>
          <p:cNvPr id="76" name="concept-arrow-1"/>
          <p:cNvCxnSpPr/>
          <p:nvPr/>
        </p:nvCxnSpPr>
        <p:spPr>
          <a:xfrm>
            <a:off x="6080759" y="3090672"/>
            <a:ext cx="164593" cy="0"/>
          </a:xfrm>
          <a:prstGeom prst="line">
            <a:avLst/>
          </a:prstGeom>
          <a:ln w="15240">
            <a:solidFill>
              <a:srgbClr val="00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77" name="concept-arrow-2"/>
          <p:cNvCxnSpPr/>
          <p:nvPr/>
        </p:nvCxnSpPr>
        <p:spPr>
          <a:xfrm>
            <a:off x="7754112" y="3090672"/>
            <a:ext cx="164592" cy="0"/>
          </a:xfrm>
          <a:prstGeom prst="line">
            <a:avLst/>
          </a:prstGeom>
          <a:ln w="15240">
            <a:solidFill>
              <a:srgbClr val="00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78" name="concept-arrow-3"/>
          <p:cNvCxnSpPr/>
          <p:nvPr/>
        </p:nvCxnSpPr>
        <p:spPr>
          <a:xfrm>
            <a:off x="9427464" y="3090672"/>
            <a:ext cx="164591" cy="0"/>
          </a:xfrm>
          <a:prstGeom prst="line">
            <a:avLst/>
          </a:prstGeom>
          <a:ln w="15240">
            <a:solidFill>
              <a:srgbClr val="00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79" name="concept-card-01"/>
          <p:cNvSpPr/>
          <p:nvPr/>
        </p:nvSpPr>
        <p:spPr>
          <a:xfrm>
            <a:off x="4617720" y="2395728"/>
            <a:ext cx="14173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0" name="Oval 79"/>
          <p:cNvSpPr/>
          <p:nvPr/>
        </p:nvSpPr>
        <p:spPr>
          <a:xfrm>
            <a:off x="4736592" y="2523744"/>
            <a:ext cx="329184" cy="329184"/>
          </a:xfrm>
          <a:prstGeom prst="ellipse">
            <a:avLst/>
          </a:prstGeom>
          <a:solidFill>
            <a:srgbClr val="00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 xmlns:a="http://schemas.openxmlformats.org/drawingml/2006/main">
        <p:nvSpPr>
          <p:cNvPr id="81" name="TextBox 80"/>
          <p:cNvSpPr txBox="1"/>
          <p:nvPr/>
        </p:nvSpPr>
        <p:spPr>
          <a:xfrm>
            <a:off x="4736592" y="2944368"/>
            <a:ext cx="117957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2B3A"/>
                </a:solidFill>
                <a:latin typeface="Arial"/>
              </a:rPr>
              <a:t>Entrada</a:t>
            </a:r>
          </a:p>
        </p:txBody>
      </p:sp>
      <p:sp xmlns:a="http://schemas.openxmlformats.org/drawingml/2006/main">
        <p:nvSpPr>
          <p:cNvPr id="82" name="TextBox 81"/>
          <p:cNvSpPr txBox="1"/>
          <p:nvPr/>
        </p:nvSpPr>
        <p:spPr>
          <a:xfrm>
            <a:off x="4736592" y="3236976"/>
            <a:ext cx="117957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5F737A"/>
                </a:solidFill>
                <a:latin typeface="Arial"/>
              </a:rPr>
              <a:t>ideia, equipe</a:t>
            </a:r>
            <a:br/>
            <a:r>
              <a:rPr sz="950" b="0">
                <a:solidFill>
                  <a:srgbClr val="5F737A"/>
                </a:solidFill>
                <a:latin typeface="Arial"/>
              </a:rPr>
              <a:t>e mentor</a:t>
            </a:r>
          </a:p>
        </p:txBody>
      </p:sp>
      <p:sp xmlns:a="http://schemas.openxmlformats.org/drawingml/2006/main">
        <p:nvSpPr>
          <p:cNvPr id="83" name="concept-card-02"/>
          <p:cNvSpPr/>
          <p:nvPr/>
        </p:nvSpPr>
        <p:spPr>
          <a:xfrm>
            <a:off x="6291072" y="2395728"/>
            <a:ext cx="14173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4" name="Oval 83"/>
          <p:cNvSpPr/>
          <p:nvPr/>
        </p:nvSpPr>
        <p:spPr>
          <a:xfrm>
            <a:off x="6409944" y="2523744"/>
            <a:ext cx="329184" cy="329184"/>
          </a:xfrm>
          <a:prstGeom prst="ellipse">
            <a:avLst/>
          </a:prstGeom>
          <a:solidFill>
            <a:srgbClr val="00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 xmlns:a="http://schemas.openxmlformats.org/drawingml/2006/main">
        <p:nvSpPr>
          <p:cNvPr id="85" name="TextBox 84"/>
          <p:cNvSpPr txBox="1"/>
          <p:nvPr/>
        </p:nvSpPr>
        <p:spPr>
          <a:xfrm>
            <a:off x="6409944" y="2944368"/>
            <a:ext cx="117957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2B3A"/>
                </a:solidFill>
                <a:latin typeface="Arial"/>
              </a:rPr>
              <a:t>Etapa</a:t>
            </a:r>
          </a:p>
        </p:txBody>
      </p:sp>
      <p:sp xmlns:a="http://schemas.openxmlformats.org/drawingml/2006/main">
        <p:nvSpPr>
          <p:cNvPr id="86" name="TextBox 85"/>
          <p:cNvSpPr txBox="1"/>
          <p:nvPr/>
        </p:nvSpPr>
        <p:spPr>
          <a:xfrm>
            <a:off x="6409944" y="3236976"/>
            <a:ext cx="117957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5F737A"/>
                </a:solidFill>
                <a:latin typeface="Arial"/>
              </a:rPr>
              <a:t>posição atual</a:t>
            </a:r>
            <a:br/>
            <a:r>
              <a:rPr sz="950" b="0">
                <a:solidFill>
                  <a:srgbClr val="5F737A"/>
                </a:solidFill>
                <a:latin typeface="Arial"/>
              </a:rPr>
              <a:t>da jornada</a:t>
            </a:r>
          </a:p>
        </p:txBody>
      </p:sp>
      <p:sp xmlns:a="http://schemas.openxmlformats.org/drawingml/2006/main">
        <p:nvSpPr>
          <p:cNvPr id="87" name="concept-card-03"/>
          <p:cNvSpPr/>
          <p:nvPr/>
        </p:nvSpPr>
        <p:spPr>
          <a:xfrm>
            <a:off x="7964424" y="2395728"/>
            <a:ext cx="14173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8" name="Oval 87"/>
          <p:cNvSpPr/>
          <p:nvPr/>
        </p:nvSpPr>
        <p:spPr>
          <a:xfrm>
            <a:off x="8083296" y="2523744"/>
            <a:ext cx="329184" cy="329184"/>
          </a:xfrm>
          <a:prstGeom prst="ellipse">
            <a:avLst/>
          </a:prstGeom>
          <a:solidFill>
            <a:srgbClr val="00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 xmlns:a="http://schemas.openxmlformats.org/drawingml/2006/main">
        <p:nvSpPr>
          <p:cNvPr id="89" name="TextBox 88"/>
          <p:cNvSpPr txBox="1"/>
          <p:nvPr/>
        </p:nvSpPr>
        <p:spPr>
          <a:xfrm>
            <a:off x="8083296" y="2944368"/>
            <a:ext cx="117957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2B3A"/>
                </a:solidFill>
                <a:latin typeface="Arial"/>
              </a:rPr>
              <a:t>Sinais</a:t>
            </a:r>
          </a:p>
        </p:txBody>
      </p:sp>
      <p:sp xmlns:a="http://schemas.openxmlformats.org/drawingml/2006/main">
        <p:nvSpPr>
          <p:cNvPr id="90" name="TextBox 89"/>
          <p:cNvSpPr txBox="1"/>
          <p:nvPr/>
        </p:nvSpPr>
        <p:spPr>
          <a:xfrm>
            <a:off x="8083296" y="3236976"/>
            <a:ext cx="117957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5F737A"/>
                </a:solidFill>
                <a:latin typeface="Arial"/>
              </a:rPr>
              <a:t>prazos, atrasos</a:t>
            </a:r>
            <a:br/>
            <a:r>
              <a:rPr sz="950" b="0">
                <a:solidFill>
                  <a:srgbClr val="5F737A"/>
                </a:solidFill>
                <a:latin typeface="Arial"/>
              </a:rPr>
              <a:t>e responsáveis</a:t>
            </a:r>
          </a:p>
        </p:txBody>
      </p:sp>
      <p:sp xmlns:a="http://schemas.openxmlformats.org/drawingml/2006/main">
        <p:nvSpPr>
          <p:cNvPr id="91" name="concept-card-04"/>
          <p:cNvSpPr/>
          <p:nvPr/>
        </p:nvSpPr>
        <p:spPr>
          <a:xfrm>
            <a:off x="9637776" y="2395728"/>
            <a:ext cx="14173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C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2" name="Oval 91"/>
          <p:cNvSpPr/>
          <p:nvPr/>
        </p:nvSpPr>
        <p:spPr>
          <a:xfrm>
            <a:off x="9756648" y="2523744"/>
            <a:ext cx="329184" cy="329184"/>
          </a:xfrm>
          <a:prstGeom prst="ellipse">
            <a:avLst/>
          </a:prstGeom>
          <a:solidFill>
            <a:srgbClr val="00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 xmlns:a="http://schemas.openxmlformats.org/drawingml/2006/main">
        <p:nvSpPr>
          <p:cNvPr id="93" name="TextBox 92"/>
          <p:cNvSpPr txBox="1"/>
          <p:nvPr/>
        </p:nvSpPr>
        <p:spPr>
          <a:xfrm>
            <a:off x="9756648" y="2944368"/>
            <a:ext cx="117957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2B3A"/>
                </a:solidFill>
                <a:latin typeface="Arial"/>
              </a:rPr>
              <a:t>Ação</a:t>
            </a:r>
          </a:p>
        </p:txBody>
      </p:sp>
      <p:sp xmlns:a="http://schemas.openxmlformats.org/drawingml/2006/main">
        <p:nvSpPr>
          <p:cNvPr id="94" name="TextBox 93"/>
          <p:cNvSpPr txBox="1"/>
          <p:nvPr/>
        </p:nvSpPr>
        <p:spPr>
          <a:xfrm>
            <a:off x="9756648" y="3236976"/>
            <a:ext cx="117957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5F737A"/>
                </a:solidFill>
                <a:latin typeface="Arial"/>
              </a:rPr>
              <a:t>corrigir, orientar</a:t>
            </a:r>
            <a:br/>
            <a:r>
              <a:rPr sz="950" b="0">
                <a:solidFill>
                  <a:srgbClr val="5F737A"/>
                </a:solidFill>
                <a:latin typeface="Arial"/>
              </a:rPr>
              <a:t>e avançar</a:t>
            </a:r>
          </a:p>
        </p:txBody>
      </p:sp>
      <p:sp xmlns:a="http://schemas.openxmlformats.org/drawingml/2006/main">
        <p:nvSpPr>
          <p:cNvPr id="95" name="TextBox 94"/>
          <p:cNvSpPr txBox="1"/>
          <p:nvPr/>
        </p:nvSpPr>
        <p:spPr>
          <a:xfrm>
            <a:off x="4617720" y="4160520"/>
            <a:ext cx="5669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2B3A"/>
                </a:solidFill>
                <a:latin typeface="Arial"/>
              </a:rPr>
              <a:t>O que fica claro para a coordenação</a:t>
            </a:r>
          </a:p>
        </p:txBody>
      </p:sp>
      <p:sp xmlns:a="http://schemas.openxmlformats.org/drawingml/2006/main">
        <p:nvSpPr>
          <p:cNvPr id="96" name="Rounded Rectangle 95"/>
          <p:cNvSpPr/>
          <p:nvPr/>
        </p:nvSpPr>
        <p:spPr>
          <a:xfrm>
            <a:off x="4617720" y="4553712"/>
            <a:ext cx="1810512" cy="566928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0B2B3A"/>
                </a:solidFill>
                <a:latin typeface="Arial"/>
              </a:rPr>
              <a:t>Onde cada equipe está</a:t>
            </a:r>
          </a:p>
        </p:txBody>
      </p:sp>
      <p:sp xmlns:a="http://schemas.openxmlformats.org/drawingml/2006/main">
        <p:nvSpPr>
          <p:cNvPr id="97" name="Rounded Rectangle 96"/>
          <p:cNvSpPr/>
          <p:nvPr/>
        </p:nvSpPr>
        <p:spPr>
          <a:xfrm>
            <a:off x="6748272" y="4553712"/>
            <a:ext cx="1810512" cy="566928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0B2B3A"/>
                </a:solidFill>
                <a:latin typeface="Arial"/>
              </a:rPr>
              <a:t>O que precisa de atenção</a:t>
            </a:r>
          </a:p>
        </p:txBody>
      </p:sp>
      <p:sp xmlns:a="http://schemas.openxmlformats.org/drawingml/2006/main">
        <p:nvSpPr>
          <p:cNvPr id="98" name="Rounded Rectangle 97"/>
          <p:cNvSpPr/>
          <p:nvPr/>
        </p:nvSpPr>
        <p:spPr>
          <a:xfrm>
            <a:off x="8878824" y="4553712"/>
            <a:ext cx="1810512" cy="566928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0B2B3A"/>
                </a:solidFill>
                <a:latin typeface="Arial"/>
              </a:rPr>
              <a:t>Quem está pronto p/ avançar</a:t>
            </a:r>
          </a:p>
        </p:txBody>
      </p:sp>
      <p:sp xmlns:a="http://schemas.openxmlformats.org/drawingml/2006/main">
        <p:nvSpPr>
          <p:cNvPr id="99" name="TextBox 98"/>
          <p:cNvSpPr txBox="1"/>
          <p:nvPr/>
        </p:nvSpPr>
        <p:spPr>
          <a:xfrm>
            <a:off x="9628632" y="5367528"/>
            <a:ext cx="17830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5F737A"/>
                </a:solidFill>
                <a:latin typeface="Arial"/>
              </a:rPr>
              <a:t>representação conceitual</a:t>
            </a:r>
          </a:p>
        </p:txBody>
      </p:sp>
    </p:spTree>
    <p:extLst>
      <p:ext uri="{BB962C8B-B14F-4D97-AF65-F5344CB8AC3E}">
        <p14:creationId xmlns:p14="http://schemas.microsoft.com/office/powerpoint/2010/main" val="1992470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header-title-4">
            <a:extLst xmlns:a="http://schemas.openxmlformats.org/drawingml/2006/main">
              <a:ext uri="{FF2B5EF4-FFF2-40B4-BE49-F238E27FC236}">
                <a16:creationId xmlns:a16="http://schemas.microsoft.com/office/drawing/2014/main" id="{C5E88E8D-4942-418A-B213-504CE1D0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Seis etapas transformam uma ideia em um pitch pronto.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9E87395D-CD2F-4BE3-9D46-24F52E58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journey-lead">
            <a:extLst xmlns:a="http://schemas.openxmlformats.org/drawingml/2006/main">
              <a:ext uri="{FF2B5EF4-FFF2-40B4-BE49-F238E27FC236}">
                <a16:creationId xmlns:a16="http://schemas.microsoft.com/office/drawing/2014/main" id="{BD76FBD7-D7E0-4814-9510-CA81DB6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Cada avanço tem objetivo claro, registro e próximos passos definidos.</a:t>
            </a:r>
          </a:p>
        </p:txBody>
      </p:sp>
      <p:sp>
        <p:nvSpPr>
          <p:cNvPr id="4" name="journey-circle-0">
            <a:extLst xmlns:a="http://schemas.openxmlformats.org/drawingml/2006/main">
              <a:ext uri="{FF2B5EF4-FFF2-40B4-BE49-F238E27FC236}">
                <a16:creationId xmlns:a16="http://schemas.microsoft.com/office/drawing/2014/main" id="{8DF3EF7B-ACE0-4756-84AA-DA274954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journey-num-0">
            <a:extLst xmlns:a="http://schemas.openxmlformats.org/drawingml/2006/main">
              <a:ext uri="{FF2B5EF4-FFF2-40B4-BE49-F238E27FC236}">
                <a16:creationId xmlns:a16="http://schemas.microsoft.com/office/drawing/2014/main" id="{3CEE2755-4A33-4C00-A0F8-ED820F7D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journey-title-0">
            <a:extLst xmlns:a="http://schemas.openxmlformats.org/drawingml/2006/main">
              <a:ext uri="{FF2B5EF4-FFF2-40B4-BE49-F238E27FC236}">
                <a16:creationId xmlns:a16="http://schemas.microsoft.com/office/drawing/2014/main" id="{34274463-C950-4E23-A317-6906B216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Envio da ideia</a:t>
            </a:r>
          </a:p>
        </p:txBody>
      </p:sp>
      <p:sp>
        <p:nvSpPr>
          <p:cNvPr id="7" name="journey-desc-0">
            <a:extLst xmlns:a="http://schemas.openxmlformats.org/drawingml/2006/main">
              <a:ext uri="{FF2B5EF4-FFF2-40B4-BE49-F238E27FC236}">
                <a16:creationId xmlns:a16="http://schemas.microsoft.com/office/drawing/2014/main" id="{32298922-FF75-4467-9560-7438B855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Cadastro inicial</a:t>
            </a:r>
          </a:p>
        </p:txBody>
      </p:sp>
      <p:sp>
        <p:nvSpPr>
          <p:cNvPr id="8" name="journey-rule-0">
            <a:extLst xmlns:a="http://schemas.openxmlformats.org/drawingml/2006/main">
              <a:ext uri="{FF2B5EF4-FFF2-40B4-BE49-F238E27FC236}">
                <a16:creationId xmlns:a16="http://schemas.microsoft.com/office/drawing/2014/main" id="{316EB0B7-FADB-4906-9B76-80DC2CAB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62275"/>
            <a:ext cx="251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ourney-circle-1">
            <a:extLst xmlns:a="http://schemas.openxmlformats.org/drawingml/2006/main">
              <a:ext uri="{FF2B5EF4-FFF2-40B4-BE49-F238E27FC236}">
                <a16:creationId xmlns:a16="http://schemas.microsoft.com/office/drawing/2014/main" id="{DDCE2D8A-C17D-4B01-87DD-FE9674C5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076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journey-num-1">
            <a:extLst xmlns:a="http://schemas.openxmlformats.org/drawingml/2006/main">
              <a:ext uri="{FF2B5EF4-FFF2-40B4-BE49-F238E27FC236}">
                <a16:creationId xmlns:a16="http://schemas.microsoft.com/office/drawing/2014/main" id="{B1F62E1D-37B7-44BA-8640-51B637E2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098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journey-title-1">
            <a:extLst xmlns:a="http://schemas.openxmlformats.org/drawingml/2006/main">
              <a:ext uri="{FF2B5EF4-FFF2-40B4-BE49-F238E27FC236}">
                <a16:creationId xmlns:a16="http://schemas.microsoft.com/office/drawing/2014/main" id="{F511DFE7-4EA8-414A-81A0-BEF7FCD6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95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Contato</a:t>
            </a:r>
          </a:p>
        </p:txBody>
      </p:sp>
      <p:sp>
        <p:nvSpPr>
          <p:cNvPr id="12" name="journey-desc-1">
            <a:extLst xmlns:a="http://schemas.openxmlformats.org/drawingml/2006/main">
              <a:ext uri="{FF2B5EF4-FFF2-40B4-BE49-F238E27FC236}">
                <a16:creationId xmlns:a16="http://schemas.microsoft.com/office/drawing/2014/main" id="{A170282F-A76F-48D2-AC1E-86B66F37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52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Alinhar a equipe</a:t>
            </a:r>
          </a:p>
        </p:txBody>
      </p:sp>
      <p:sp>
        <p:nvSpPr>
          <p:cNvPr id="13" name="journey-rule-1">
            <a:extLst xmlns:a="http://schemas.openxmlformats.org/drawingml/2006/main">
              <a:ext uri="{FF2B5EF4-FFF2-40B4-BE49-F238E27FC236}">
                <a16:creationId xmlns:a16="http://schemas.microsoft.com/office/drawing/2014/main" id="{7FF4EEBF-F5DA-4642-97A4-62E29A13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62275"/>
            <a:ext cx="251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journey-circle-2">
            <a:extLst xmlns:a="http://schemas.openxmlformats.org/drawingml/2006/main">
              <a:ext uri="{FF2B5EF4-FFF2-40B4-BE49-F238E27FC236}">
                <a16:creationId xmlns:a16="http://schemas.microsoft.com/office/drawing/2014/main" id="{1DFA243A-95B0-493B-9016-995874A8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journey-num-2">
            <a:extLst xmlns:a="http://schemas.openxmlformats.org/drawingml/2006/main">
              <a:ext uri="{FF2B5EF4-FFF2-40B4-BE49-F238E27FC236}">
                <a16:creationId xmlns:a16="http://schemas.microsoft.com/office/drawing/2014/main" id="{9BA489AF-8CFF-45BD-BC77-33D6B370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journey-title-2">
            <a:extLst xmlns:a="http://schemas.openxmlformats.org/drawingml/2006/main">
              <a:ext uri="{FF2B5EF4-FFF2-40B4-BE49-F238E27FC236}">
                <a16:creationId xmlns:a16="http://schemas.microsoft.com/office/drawing/2014/main" id="{10BACA20-70FC-418F-89B5-F3280463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Entender</a:t>
            </a:r>
          </a:p>
        </p:txBody>
      </p:sp>
      <p:sp>
        <p:nvSpPr>
          <p:cNvPr id="17" name="journey-desc-2">
            <a:extLst xmlns:a="http://schemas.openxmlformats.org/drawingml/2006/main">
              <a:ext uri="{FF2B5EF4-FFF2-40B4-BE49-F238E27FC236}">
                <a16:creationId xmlns:a16="http://schemas.microsoft.com/office/drawing/2014/main" id="{94E08A23-ECF3-47B4-BACC-FA992DD1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Problema e público</a:t>
            </a:r>
          </a:p>
        </p:txBody>
      </p:sp>
      <p:sp>
        <p:nvSpPr>
          <p:cNvPr id="18" name="journey-rule-2">
            <a:extLst xmlns:a="http://schemas.openxmlformats.org/drawingml/2006/main">
              <a:ext uri="{FF2B5EF4-FFF2-40B4-BE49-F238E27FC236}">
                <a16:creationId xmlns:a16="http://schemas.microsoft.com/office/drawing/2014/main" id="{FAB6D753-DF70-41B3-B544-AAE2E468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62275"/>
            <a:ext cx="251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journey-circle-3">
            <a:extLst xmlns:a="http://schemas.openxmlformats.org/drawingml/2006/main">
              <a:ext uri="{FF2B5EF4-FFF2-40B4-BE49-F238E27FC236}">
                <a16:creationId xmlns:a16="http://schemas.microsoft.com/office/drawing/2014/main" id="{7838BF9B-CDD4-4C2A-A6EC-F60C37FF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00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journey-num-3">
            <a:extLst xmlns:a="http://schemas.openxmlformats.org/drawingml/2006/main">
              <a:ext uri="{FF2B5EF4-FFF2-40B4-BE49-F238E27FC236}">
                <a16:creationId xmlns:a16="http://schemas.microsoft.com/office/drawing/2014/main" id="{5C60E343-0877-4458-88A9-4AE3D75C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journey-title-3">
            <a:extLst xmlns:a="http://schemas.openxmlformats.org/drawingml/2006/main">
              <a:ext uri="{FF2B5EF4-FFF2-40B4-BE49-F238E27FC236}">
                <a16:creationId xmlns:a16="http://schemas.microsoft.com/office/drawing/2014/main" id="{76F753C1-18CB-4597-8B37-9D854308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290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Proposta de valor</a:t>
            </a:r>
          </a:p>
        </p:txBody>
      </p:sp>
      <p:sp>
        <p:nvSpPr>
          <p:cNvPr id="22" name="journey-desc-3">
            <a:extLst xmlns:a="http://schemas.openxmlformats.org/drawingml/2006/main">
              <a:ext uri="{FF2B5EF4-FFF2-40B4-BE49-F238E27FC236}">
                <a16:creationId xmlns:a16="http://schemas.microsoft.com/office/drawing/2014/main" id="{48E317CD-76F7-4F1B-8744-200C65B5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862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Valor da solução</a:t>
            </a:r>
          </a:p>
        </p:txBody>
      </p:sp>
      <p:sp>
        <p:nvSpPr>
          <p:cNvPr id="23" name="journey-rule-3">
            <a:extLst xmlns:a="http://schemas.openxmlformats.org/drawingml/2006/main">
              <a:ext uri="{FF2B5EF4-FFF2-40B4-BE49-F238E27FC236}">
                <a16:creationId xmlns:a16="http://schemas.microsoft.com/office/drawing/2014/main" id="{9005EBFD-5346-4F1C-BEEF-A0EBF023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251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journey-circle-4">
            <a:extLst xmlns:a="http://schemas.openxmlformats.org/drawingml/2006/main">
              <a:ext uri="{FF2B5EF4-FFF2-40B4-BE49-F238E27FC236}">
                <a16:creationId xmlns:a16="http://schemas.microsoft.com/office/drawing/2014/main" id="{63F77DF6-0220-41AC-8B4B-1568A21E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0100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journey-num-4">
            <a:extLst xmlns:a="http://schemas.openxmlformats.org/drawingml/2006/main">
              <a:ext uri="{FF2B5EF4-FFF2-40B4-BE49-F238E27FC236}">
                <a16:creationId xmlns:a16="http://schemas.microsoft.com/office/drawing/2014/main" id="{7B063048-5A5C-4602-B3BE-C8C5B2FD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43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journey-title-4">
            <a:extLst xmlns:a="http://schemas.openxmlformats.org/drawingml/2006/main">
              <a:ext uri="{FF2B5EF4-FFF2-40B4-BE49-F238E27FC236}">
                <a16:creationId xmlns:a16="http://schemas.microsoft.com/office/drawing/2014/main" id="{FF0825A9-8070-4638-8BF8-7C6B09C0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290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Modelo de negócio</a:t>
            </a:r>
          </a:p>
        </p:txBody>
      </p:sp>
      <p:sp>
        <p:nvSpPr>
          <p:cNvPr id="27" name="journey-desc-4">
            <a:extLst xmlns:a="http://schemas.openxmlformats.org/drawingml/2006/main">
              <a:ext uri="{FF2B5EF4-FFF2-40B4-BE49-F238E27FC236}">
                <a16:creationId xmlns:a16="http://schemas.microsoft.com/office/drawing/2014/main" id="{1FF19A87-262D-484B-9B2A-C88DBD5C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862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Viabilidade</a:t>
            </a:r>
          </a:p>
        </p:txBody>
      </p:sp>
      <p:sp>
        <p:nvSpPr>
          <p:cNvPr id="28" name="journey-rule-4">
            <a:extLst xmlns:a="http://schemas.openxmlformats.org/drawingml/2006/main">
              <a:ext uri="{FF2B5EF4-FFF2-40B4-BE49-F238E27FC236}">
                <a16:creationId xmlns:a16="http://schemas.microsoft.com/office/drawing/2014/main" id="{D95AB10F-CC2B-4D8E-A6C2-AE192999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95850"/>
            <a:ext cx="251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journey-circle-5">
            <a:extLst xmlns:a="http://schemas.openxmlformats.org/drawingml/2006/main">
              <a:ext uri="{FF2B5EF4-FFF2-40B4-BE49-F238E27FC236}">
                <a16:creationId xmlns:a16="http://schemas.microsoft.com/office/drawing/2014/main" id="{65C6DF38-F4CF-4991-9128-EEEFEFBE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100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journey-num-5">
            <a:extLst xmlns:a="http://schemas.openxmlformats.org/drawingml/2006/main">
              <a:ext uri="{FF2B5EF4-FFF2-40B4-BE49-F238E27FC236}">
                <a16:creationId xmlns:a16="http://schemas.microsoft.com/office/drawing/2014/main" id="{44E35ABB-E455-4A6C-9945-588D6E89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43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journey-title-5">
            <a:extLst xmlns:a="http://schemas.openxmlformats.org/drawingml/2006/main">
              <a:ext uri="{FF2B5EF4-FFF2-40B4-BE49-F238E27FC236}">
                <a16:creationId xmlns:a16="http://schemas.microsoft.com/office/drawing/2014/main" id="{F656793E-A5A5-4365-B088-446AF24E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290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Pitch e inscrição</a:t>
            </a:r>
          </a:p>
        </p:txBody>
      </p:sp>
      <p:sp>
        <p:nvSpPr>
          <p:cNvPr id="32" name="journey-desc-5">
            <a:extLst xmlns:a="http://schemas.openxmlformats.org/drawingml/2006/main">
              <a:ext uri="{FF2B5EF4-FFF2-40B4-BE49-F238E27FC236}">
                <a16:creationId xmlns:a16="http://schemas.microsoft.com/office/drawing/2014/main" id="{CCDEE89E-8E76-4B5C-9092-DBF3076B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862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Pronto para avançar</a:t>
            </a:r>
          </a:p>
        </p:txBody>
      </p:sp>
      <p:sp>
        <p:nvSpPr>
          <p:cNvPr id="33" name="journey-rule-5">
            <a:extLst xmlns:a="http://schemas.openxmlformats.org/drawingml/2006/main">
              <a:ext uri="{FF2B5EF4-FFF2-40B4-BE49-F238E27FC236}">
                <a16:creationId xmlns:a16="http://schemas.microsoft.com/office/drawing/2014/main" id="{481EB65B-17B3-4811-860D-3541A493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95850"/>
            <a:ext cx="251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12F0DE4F-B1EC-4165-9B45-F43732F2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EB89B9EB-040D-42D0-B4EF-2CD9D1F4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7A"/>
                </a:solidFill>
                <a:latin typeface="Arial"/>
                <a:ea typeface="Arial"/>
                <a:cs typeface="Arial"/>
              </a:rPr>
              <a:t>InfoHub  →  InovAMF</a:t>
            </a:r>
          </a:p>
        </p:txBody>
      </p:sp>
    </p:spTree>
    <p:extLst>
      <p:ext uri="{BB962C8B-B14F-4D97-AF65-F5344CB8AC3E}">
        <p14:creationId xmlns:p14="http://schemas.microsoft.com/office/powerpoint/2010/main" val="16215161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header-title-5">
            <a:extLst xmlns:a="http://schemas.openxmlformats.org/drawingml/2006/main">
              <a:ext uri="{FF2B5EF4-FFF2-40B4-BE49-F238E27FC236}">
                <a16:creationId xmlns:a16="http://schemas.microsoft.com/office/drawing/2014/main" id="{8BDFFAEE-7FC1-4683-9EE3-FF95645A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Cada pessoa enxerga o que precisa para avançar.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3C61811C-5A2B-4697-B1DA-7C47B8DD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value-lead">
            <a:extLst xmlns:a="http://schemas.openxmlformats.org/drawingml/2006/main">
              <a:ext uri="{FF2B5EF4-FFF2-40B4-BE49-F238E27FC236}">
                <a16:creationId xmlns:a16="http://schemas.microsoft.com/office/drawing/2014/main" id="{F09FA6A8-27B9-4C15-98F2-9FC30C38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A mesma informação gera ações diferentes — sem duplicação e sem ruído.</a:t>
            </a:r>
          </a:p>
        </p:txBody>
      </p:sp>
      <p:sp>
        <p:nvSpPr>
          <p:cNvPr id="4" name="value-icon-0">
            <a:extLst xmlns:a="http://schemas.openxmlformats.org/drawingml/2006/main">
              <a:ext uri="{FF2B5EF4-FFF2-40B4-BE49-F238E27FC236}">
                <a16:creationId xmlns:a16="http://schemas.microsoft.com/office/drawing/2014/main" id="{B795BC77-F983-40F4-B935-F0AF993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alue-icon-text-0">
            <a:extLst xmlns:a="http://schemas.openxmlformats.org/drawingml/2006/main">
              <a:ext uri="{FF2B5EF4-FFF2-40B4-BE49-F238E27FC236}">
                <a16:creationId xmlns:a16="http://schemas.microsoft.com/office/drawing/2014/main" id="{0D5E5033-142C-4336-8262-98202C0F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5742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value-label-0">
            <a:extLst xmlns:a="http://schemas.openxmlformats.org/drawingml/2006/main">
              <a:ext uri="{FF2B5EF4-FFF2-40B4-BE49-F238E27FC236}">
                <a16:creationId xmlns:a16="http://schemas.microsoft.com/office/drawing/2014/main" id="{A7EDBDB7-B31C-4455-B073-28CDA420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9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89D"/>
                </a:solidFill>
                <a:latin typeface="Arial"/>
                <a:ea typeface="Arial"/>
                <a:cs typeface="Arial"/>
              </a:rPr>
              <a:t>ALUNO</a:t>
            </a:r>
          </a:p>
        </p:txBody>
      </p:sp>
      <p:sp>
        <p:nvSpPr>
          <p:cNvPr id="7" name="value-title-0">
            <a:extLst xmlns:a="http://schemas.openxmlformats.org/drawingml/2006/main">
              <a:ext uri="{FF2B5EF4-FFF2-40B4-BE49-F238E27FC236}">
                <a16:creationId xmlns:a16="http://schemas.microsoft.com/office/drawing/2014/main" id="{9082E9DB-0443-44E3-B859-71DA00FB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319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Sabe o próximo passo</a:t>
            </a:r>
          </a:p>
        </p:txBody>
      </p:sp>
      <p:sp>
        <p:nvSpPr>
          <p:cNvPr id="8" name="value-body-0">
            <a:extLst xmlns:a="http://schemas.openxmlformats.org/drawingml/2006/main">
              <a:ext uri="{FF2B5EF4-FFF2-40B4-BE49-F238E27FC236}">
                <a16:creationId xmlns:a16="http://schemas.microsoft.com/office/drawing/2014/main" id="{15632261-41EE-4156-ABE8-FECB715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3190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Tarefas, prazos e entregas organizados por etapa.</a:t>
            </a:r>
          </a:p>
        </p:txBody>
      </p:sp>
      <p:sp>
        <p:nvSpPr>
          <p:cNvPr id="9" name="value-rule-1">
            <a:extLst xmlns:a="http://schemas.openxmlformats.org/drawingml/2006/main">
              <a:ext uri="{FF2B5EF4-FFF2-40B4-BE49-F238E27FC236}">
                <a16:creationId xmlns:a16="http://schemas.microsoft.com/office/drawing/2014/main" id="{C63AD67D-FC71-4610-9B9F-4A23C37B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05025"/>
            <a:ext cx="95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alue-icon-1">
            <a:extLst xmlns:a="http://schemas.openxmlformats.org/drawingml/2006/main">
              <a:ext uri="{FF2B5EF4-FFF2-40B4-BE49-F238E27FC236}">
                <a16:creationId xmlns:a16="http://schemas.microsoft.com/office/drawing/2014/main" id="{BBE78A98-EC31-43F1-8D03-2A314B90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0955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5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alue-icon-text-1">
            <a:extLst xmlns:a="http://schemas.openxmlformats.org/drawingml/2006/main">
              <a:ext uri="{FF2B5EF4-FFF2-40B4-BE49-F238E27FC236}">
                <a16:creationId xmlns:a16="http://schemas.microsoft.com/office/drawing/2014/main" id="{7D82F3D3-6CF4-4E06-A60D-110B2D29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5742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2" name="value-label-1">
            <a:extLst xmlns:a="http://schemas.openxmlformats.org/drawingml/2006/main">
              <a:ext uri="{FF2B5EF4-FFF2-40B4-BE49-F238E27FC236}">
                <a16:creationId xmlns:a16="http://schemas.microsoft.com/office/drawing/2014/main" id="{AAF138F0-5E7D-41EC-AB87-9625EF17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289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52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F52D9"/>
                </a:solidFill>
                <a:latin typeface="Arial"/>
                <a:ea typeface="Arial"/>
                <a:cs typeface="Arial"/>
              </a:rPr>
              <a:t>MENTOR</a:t>
            </a:r>
          </a:p>
        </p:txBody>
      </p:sp>
      <p:sp>
        <p:nvSpPr>
          <p:cNvPr id="13" name="value-title-1">
            <a:extLst xmlns:a="http://schemas.openxmlformats.org/drawingml/2006/main">
              <a:ext uri="{FF2B5EF4-FFF2-40B4-BE49-F238E27FC236}">
                <a16:creationId xmlns:a16="http://schemas.microsoft.com/office/drawing/2014/main" id="{A603C419-4E47-4C70-89E0-F4A48F73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76625"/>
            <a:ext cx="319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Acompanha com contexto</a:t>
            </a:r>
          </a:p>
        </p:txBody>
      </p:sp>
      <p:sp>
        <p:nvSpPr>
          <p:cNvPr id="14" name="value-body-1">
            <a:extLst xmlns:a="http://schemas.openxmlformats.org/drawingml/2006/main">
              <a:ext uri="{FF2B5EF4-FFF2-40B4-BE49-F238E27FC236}">
                <a16:creationId xmlns:a16="http://schemas.microsoft.com/office/drawing/2014/main" id="{B7B238B2-579A-4B78-97AF-2616DDBF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343400"/>
            <a:ext cx="3190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Histórico, anotações e pontos de atenção em uma única visão.</a:t>
            </a:r>
          </a:p>
        </p:txBody>
      </p:sp>
      <p:sp>
        <p:nvSpPr>
          <p:cNvPr id="15" name="value-rule-2">
            <a:extLst xmlns:a="http://schemas.openxmlformats.org/drawingml/2006/main">
              <a:ext uri="{FF2B5EF4-FFF2-40B4-BE49-F238E27FC236}">
                <a16:creationId xmlns:a16="http://schemas.microsoft.com/office/drawing/2014/main" id="{56DB41CC-9EE8-417A-A2CA-98CF4CAF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05025"/>
            <a:ext cx="95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alue-icon-2">
            <a:extLst xmlns:a="http://schemas.openxmlformats.org/drawingml/2006/main">
              <a:ext uri="{FF2B5EF4-FFF2-40B4-BE49-F238E27FC236}">
                <a16:creationId xmlns:a16="http://schemas.microsoft.com/office/drawing/2014/main" id="{051CB92B-725A-4205-A9F8-EEDBB6AC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alue-icon-text-2">
            <a:extLst xmlns:a="http://schemas.openxmlformats.org/drawingml/2006/main">
              <a:ext uri="{FF2B5EF4-FFF2-40B4-BE49-F238E27FC236}">
                <a16:creationId xmlns:a16="http://schemas.microsoft.com/office/drawing/2014/main" id="{39CB2710-EFBA-4D3E-A2A0-36F1B2D0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value-label-2">
            <a:extLst xmlns:a="http://schemas.openxmlformats.org/drawingml/2006/main">
              <a:ext uri="{FF2B5EF4-FFF2-40B4-BE49-F238E27FC236}">
                <a16:creationId xmlns:a16="http://schemas.microsoft.com/office/drawing/2014/main" id="{B1A85E9D-DC0D-4DD7-A75D-EE9F8DF2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9A1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9A16"/>
                </a:solidFill>
                <a:latin typeface="Arial"/>
                <a:ea typeface="Arial"/>
                <a:cs typeface="Arial"/>
              </a:rPr>
              <a:t>COORDENAÇÃO</a:t>
            </a:r>
          </a:p>
        </p:txBody>
      </p:sp>
      <p:sp>
        <p:nvSpPr>
          <p:cNvPr id="19" name="value-title-2">
            <a:extLst xmlns:a="http://schemas.openxmlformats.org/drawingml/2006/main">
              <a:ext uri="{FF2B5EF4-FFF2-40B4-BE49-F238E27FC236}">
                <a16:creationId xmlns:a16="http://schemas.microsoft.com/office/drawing/2014/main" id="{B3B3454C-8B70-4936-8B38-35D961E4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76625"/>
            <a:ext cx="319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Decide com visão do todo</a:t>
            </a:r>
          </a:p>
        </p:txBody>
      </p:sp>
      <p:sp>
        <p:nvSpPr>
          <p:cNvPr id="20" name="value-body-2">
            <a:extLst xmlns:a="http://schemas.openxmlformats.org/drawingml/2006/main">
              <a:ext uri="{FF2B5EF4-FFF2-40B4-BE49-F238E27FC236}">
                <a16:creationId xmlns:a16="http://schemas.microsoft.com/office/drawing/2014/main" id="{89EFF3C9-2DBB-481A-8C29-E2B1F9D9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3190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737A"/>
                </a:solidFill>
                <a:latin typeface="Arial"/>
                <a:ea typeface="Arial"/>
                <a:cs typeface="Arial"/>
              </a:rPr>
              <a:t>Funil das equipes e gargalos visíveis ao longo do ciclo.</a:t>
            </a:r>
          </a:p>
        </p:txBody>
      </p:sp>
      <p:sp>
        <p:nvSpPr>
          <p:cNvPr id="21" name="value-bottom">
            <a:extLst xmlns:a="http://schemas.openxmlformats.org/drawingml/2006/main">
              <a:ext uri="{FF2B5EF4-FFF2-40B4-BE49-F238E27FC236}">
                <a16:creationId xmlns:a16="http://schemas.microsoft.com/office/drawing/2014/main" id="{1BDA7E91-7F9E-4820-9089-370CDB63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95925"/>
            <a:ext cx="11277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value-bottom-text">
            <a:extLst xmlns:a="http://schemas.openxmlformats.org/drawingml/2006/main">
              <a:ext uri="{FF2B5EF4-FFF2-40B4-BE49-F238E27FC236}">
                <a16:creationId xmlns:a16="http://schemas.microsoft.com/office/drawing/2014/main" id="{6A8908B6-F1B9-405F-8984-382ABDD7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Menos retrabalho   •   mais clareza   •   decisões mais rápidas</a:t>
            </a:r>
          </a:p>
        </p:txBody>
      </p:sp>
      <p:sp>
        <p:nvSpPr>
          <p:cNvPr id="2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754273AA-3C01-47F8-9803-066566D3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BA615DD7-63EB-4D59-B207-0CB7C3E1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3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37A"/>
                </a:solidFill>
                <a:latin typeface="Arial"/>
                <a:ea typeface="Arial"/>
                <a:cs typeface="Arial"/>
              </a:rPr>
              <a:t>InfoHub  →  InovAMF</a:t>
            </a:r>
          </a:p>
        </p:txBody>
      </p:sp>
    </p:spTree>
    <p:extLst>
      <p:ext uri="{BB962C8B-B14F-4D97-AF65-F5344CB8AC3E}">
        <p14:creationId xmlns:p14="http://schemas.microsoft.com/office/powerpoint/2010/main" val="798309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28941801-CB35-4D99-9F57-8D4D1063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F5F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DF5F1"/>
                </a:solidFill>
                <a:latin typeface="Arial"/>
                <a:ea typeface="Arial"/>
                <a:cs typeface="Arial"/>
              </a:rPr>
              <a:t>PRÓXIMO PASSO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D907102-68CA-4FD3-85AC-FA269C10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protótipo já prova a experiência.</a:t>
            </a:r>
          </a:p>
        </p:txBody>
      </p:sp>
      <p:sp>
        <p:nvSpPr>
          <p:cNvPr id="3" name="close-sub">
            <a:extLst xmlns:a="http://schemas.openxmlformats.org/drawingml/2006/main">
              <a:ext uri="{FF2B5EF4-FFF2-40B4-BE49-F238E27FC236}">
                <a16:creationId xmlns:a16="http://schemas.microsoft.com/office/drawing/2014/main" id="{4115C052-3680-417F-810E-92870B26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52775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DF5F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F5F1"/>
                </a:solidFill>
                <a:latin typeface="Arial"/>
                <a:ea typeface="Arial"/>
                <a:cs typeface="Arial"/>
              </a:rPr>
              <a:t>Agora é conectar o backend e colocar a jornada em uso.</a:t>
            </a:r>
          </a:p>
        </p:txBody>
      </p:sp>
      <p:sp>
        <p:nvSpPr>
          <p:cNvPr id="4" name="close-panel">
            <a:extLst xmlns:a="http://schemas.openxmlformats.org/drawingml/2006/main">
              <a:ext uri="{FF2B5EF4-FFF2-40B4-BE49-F238E27FC236}">
                <a16:creationId xmlns:a16="http://schemas.microsoft.com/office/drawing/2014/main" id="{0601242B-DA85-4484-B962-1DE3F535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704850"/>
            <a:ext cx="3905250" cy="53149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panel-title">
            <a:extLst xmlns:a="http://schemas.openxmlformats.org/drawingml/2006/main">
              <a:ext uri="{FF2B5EF4-FFF2-40B4-BE49-F238E27FC236}">
                <a16:creationId xmlns:a16="http://schemas.microsoft.com/office/drawing/2014/main" id="{8E72AD8D-30C8-4B7D-820E-7BD00F3A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066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O que já está pronto</a:t>
            </a:r>
          </a:p>
        </p:txBody>
      </p:sp>
      <p:sp>
        <p:nvSpPr>
          <p:cNvPr id="6" name="close-check-0">
            <a:extLst xmlns:a="http://schemas.openxmlformats.org/drawingml/2006/main">
              <a:ext uri="{FF2B5EF4-FFF2-40B4-BE49-F238E27FC236}">
                <a16:creationId xmlns:a16="http://schemas.microsoft.com/office/drawing/2014/main" id="{A225D86C-1606-41CB-9A1E-993082B1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19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check-text-0">
            <a:extLst xmlns:a="http://schemas.openxmlformats.org/drawingml/2006/main">
              <a:ext uri="{FF2B5EF4-FFF2-40B4-BE49-F238E27FC236}">
                <a16:creationId xmlns:a16="http://schemas.microsoft.com/office/drawing/2014/main" id="{1D43F28F-9754-42B5-A3E5-66EE0849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764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89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close-ready-0">
            <a:extLst xmlns:a="http://schemas.openxmlformats.org/drawingml/2006/main">
              <a:ext uri="{FF2B5EF4-FFF2-40B4-BE49-F238E27FC236}">
                <a16:creationId xmlns:a16="http://schemas.microsoft.com/office/drawing/2014/main" id="{27CD3FD8-F3EE-4D8B-BA1C-68D8E110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866900"/>
            <a:ext cx="2562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B3A"/>
                </a:solidFill>
                <a:latin typeface="Arial"/>
                <a:ea typeface="Arial"/>
                <a:cs typeface="Arial"/>
              </a:rPr>
              <a:t>Frontend navegável</a:t>
            </a:r>
          </a:p>
        </p:txBody>
      </p:sp>
      <p:sp>
        <p:nvSpPr>
          <p:cNvPr id="9" name="close-check-1">
            <a:extLst xmlns:a="http://schemas.openxmlformats.org/drawingml/2006/main">
              <a:ext uri="{FF2B5EF4-FFF2-40B4-BE49-F238E27FC236}">
                <a16:creationId xmlns:a16="http://schemas.microsoft.com/office/drawing/2014/main" id="{2D0ED573-EA00-4F25-9CB7-32A3F945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check-text-1">
            <a:extLst xmlns:a="http://schemas.openxmlformats.org/drawingml/2006/main">
              <a:ext uri="{FF2B5EF4-FFF2-40B4-BE49-F238E27FC236}">
                <a16:creationId xmlns:a16="http://schemas.microsoft.com/office/drawing/2014/main" id="{57A074E0-7675-496C-A640-20F98D39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9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89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close-ready-1">
            <a:extLst xmlns:a="http://schemas.openxmlformats.org/drawingml/2006/main">
              <a:ext uri="{FF2B5EF4-FFF2-40B4-BE49-F238E27FC236}">
                <a16:creationId xmlns:a16="http://schemas.microsoft.com/office/drawing/2014/main" id="{0D13FDB5-68D7-461F-9594-7462D852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581275"/>
            <a:ext cx="2562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B3A"/>
                </a:solidFill>
                <a:latin typeface="Arial"/>
                <a:ea typeface="Arial"/>
                <a:cs typeface="Arial"/>
              </a:rPr>
              <a:t>Jornada em seis etapas</a:t>
            </a:r>
          </a:p>
        </p:txBody>
      </p:sp>
      <p:sp>
        <p:nvSpPr>
          <p:cNvPr id="12" name="close-check-2">
            <a:extLst xmlns:a="http://schemas.openxmlformats.org/drawingml/2006/main">
              <a:ext uri="{FF2B5EF4-FFF2-40B4-BE49-F238E27FC236}">
                <a16:creationId xmlns:a16="http://schemas.microsoft.com/office/drawing/2014/main" id="{5A6B4C7F-25E5-40CC-AFD8-7A9F67BE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48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e-check-text-2">
            <a:extLst xmlns:a="http://schemas.openxmlformats.org/drawingml/2006/main">
              <a:ext uri="{FF2B5EF4-FFF2-40B4-BE49-F238E27FC236}">
                <a16:creationId xmlns:a16="http://schemas.microsoft.com/office/drawing/2014/main" id="{19B4F422-4D49-4132-B685-F1B5B8EB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051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89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close-ready-2">
            <a:extLst xmlns:a="http://schemas.openxmlformats.org/drawingml/2006/main">
              <a:ext uri="{FF2B5EF4-FFF2-40B4-BE49-F238E27FC236}">
                <a16:creationId xmlns:a16="http://schemas.microsoft.com/office/drawing/2014/main" id="{2E4FB5E1-9B25-46CC-91CE-25FEDBF8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295650"/>
            <a:ext cx="2562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B3A"/>
                </a:solidFill>
                <a:latin typeface="Arial"/>
                <a:ea typeface="Arial"/>
                <a:cs typeface="Arial"/>
              </a:rPr>
              <a:t>Banco PostgreSQL estruturado</a:t>
            </a:r>
          </a:p>
        </p:txBody>
      </p:sp>
      <p:sp>
        <p:nvSpPr>
          <p:cNvPr id="15" name="close-check-3">
            <a:extLst xmlns:a="http://schemas.openxmlformats.org/drawingml/2006/main">
              <a:ext uri="{FF2B5EF4-FFF2-40B4-BE49-F238E27FC236}">
                <a16:creationId xmlns:a16="http://schemas.microsoft.com/office/drawing/2014/main" id="{D95B8072-9556-40C7-8E22-FE366A9B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check-text-3">
            <a:extLst xmlns:a="http://schemas.openxmlformats.org/drawingml/2006/main">
              <a:ext uri="{FF2B5EF4-FFF2-40B4-BE49-F238E27FC236}">
                <a16:creationId xmlns:a16="http://schemas.microsoft.com/office/drawing/2014/main" id="{40FB4AA2-8185-4F2C-90D2-B70BC4A8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89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close-ready-3">
            <a:extLst xmlns:a="http://schemas.openxmlformats.org/drawingml/2006/main">
              <a:ext uri="{FF2B5EF4-FFF2-40B4-BE49-F238E27FC236}">
                <a16:creationId xmlns:a16="http://schemas.microsoft.com/office/drawing/2014/main" id="{0C6DACBC-995D-4E98-84A8-A5036270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10025"/>
            <a:ext cx="2562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2B3A"/>
                </a:solidFill>
                <a:latin typeface="Arial"/>
                <a:ea typeface="Arial"/>
                <a:cs typeface="Arial"/>
              </a:rPr>
              <a:t>Contrato da API definido</a:t>
            </a:r>
          </a:p>
        </p:txBody>
      </p:sp>
      <p:sp>
        <p:nvSpPr>
          <p:cNvPr id="18" name="close-check-4">
            <a:extLst xmlns:a="http://schemas.openxmlformats.org/drawingml/2006/main">
              <a:ext uri="{FF2B5EF4-FFF2-40B4-BE49-F238E27FC236}">
                <a16:creationId xmlns:a16="http://schemas.microsoft.com/office/drawing/2014/main" id="{0154EB75-5847-45DA-A397-2684E494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76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ose-check-text-4">
            <a:extLst xmlns:a="http://schemas.openxmlformats.org/drawingml/2006/main">
              <a:ext uri="{FF2B5EF4-FFF2-40B4-BE49-F238E27FC236}">
                <a16:creationId xmlns:a16="http://schemas.microsoft.com/office/drawing/2014/main" id="{7283146F-70BB-43D6-BE2F-6882C66C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339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close-ready-4">
            <a:extLst xmlns:a="http://schemas.openxmlformats.org/drawingml/2006/main">
              <a:ext uri="{FF2B5EF4-FFF2-40B4-BE49-F238E27FC236}">
                <a16:creationId xmlns:a16="http://schemas.microsoft.com/office/drawing/2014/main" id="{2A81E895-8714-43D8-B737-565A857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724400"/>
            <a:ext cx="2562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B3A"/>
                </a:solidFill>
                <a:latin typeface="Arial"/>
                <a:ea typeface="Arial"/>
                <a:cs typeface="Arial"/>
              </a:rPr>
              <a:t>Próximo: backend e autenticação</a:t>
            </a:r>
          </a:p>
        </p:txBody>
      </p:sp>
      <p:sp>
        <p:nvSpPr>
          <p:cNvPr id="21" name="close-brand">
            <a:extLst xmlns:a="http://schemas.openxmlformats.org/drawingml/2006/main">
              <a:ext uri="{FF2B5EF4-FFF2-40B4-BE49-F238E27FC236}">
                <a16:creationId xmlns:a16="http://schemas.microsoft.com/office/drawing/2014/main" id="{D26C47C3-AAAF-401E-B1BD-A49DEED4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055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InfoHub  →  InovAMF</a:t>
            </a:r>
          </a:p>
        </p:txBody>
      </p:sp>
    </p:spTree>
    <p:extLst>
      <p:ext uri="{BB962C8B-B14F-4D97-AF65-F5344CB8AC3E}">
        <p14:creationId xmlns:p14="http://schemas.microsoft.com/office/powerpoint/2010/main" val="873822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2026-09-03T02:42:47.7380000Z</dcterms:created>
  <dcterms:modified xsi:type="dcterms:W3CDTF">2026-09-03T02:42:47.7380000Z</dcterms:modified>
</coreProperties>
</file>